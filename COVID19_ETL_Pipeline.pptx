
<file path=[Content_Types].xml><?xml version="1.0" encoding="utf-8"?>
<Types xmlns="http://schemas.openxmlformats.org/package/2006/content-types">
  <Default Extension="rels" ContentType="application/vnd.openxmlformats-package.relationships+xml"/>
  <Default Extension="wav" ContentType="audio/x-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United States</c:v>
                </c:pt>
              </c:strCache>
            </c:strRef>
          </c:tx>
          <c:spPr>
            <a:ln w="31750" cap="flat">
              <a:solidFill>
                <a:srgbClr val="2E75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 2020</c:v>
                </c:pt>
                <c:pt idx="1">
                  <c:v>Jul 2020</c:v>
                </c:pt>
                <c:pt idx="2">
                  <c:v>Jan 2021</c:v>
                </c:pt>
                <c:pt idx="3">
                  <c:v>Jul 2021</c:v>
                </c:pt>
                <c:pt idx="4">
                  <c:v>Jan 2022</c:v>
                </c:pt>
                <c:pt idx="5">
                  <c:v>Jul 2022</c:v>
                </c:pt>
                <c:pt idx="6">
                  <c:v>Jan 2023</c:v>
                </c:pt>
                <c:pt idx="7">
                  <c:v>Dec 2023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3</c:v>
                </c:pt>
                <c:pt idx="2">
                  <c:v>25</c:v>
                </c:pt>
                <c:pt idx="3">
                  <c:v>35</c:v>
                </c:pt>
                <c:pt idx="4">
                  <c:v>60</c:v>
                </c:pt>
                <c:pt idx="5">
                  <c:v>90</c:v>
                </c:pt>
                <c:pt idx="6">
                  <c:v>100</c:v>
                </c:pt>
                <c:pt idx="7">
                  <c:v>103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F3E-4FAF-B281-4118C811E2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India</c:v>
                </c:pt>
              </c:strCache>
            </c:strRef>
          </c:tx>
          <c:spPr>
            <a:ln w="31750" cap="flat">
              <a:solidFill>
                <a:srgbClr val="FF6B3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 2020</c:v>
                </c:pt>
                <c:pt idx="1">
                  <c:v>Jul 2020</c:v>
                </c:pt>
                <c:pt idx="2">
                  <c:v>Jan 2021</c:v>
                </c:pt>
                <c:pt idx="3">
                  <c:v>Jul 2021</c:v>
                </c:pt>
                <c:pt idx="4">
                  <c:v>Jan 2022</c:v>
                </c:pt>
                <c:pt idx="5">
                  <c:v>Jul 2022</c:v>
                </c:pt>
                <c:pt idx="6">
                  <c:v>Jan 2023</c:v>
                </c:pt>
                <c:pt idx="7">
                  <c:v>Dec 2023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0.8</c:v>
                </c:pt>
                <c:pt idx="2">
                  <c:v>10</c:v>
                </c:pt>
                <c:pt idx="3">
                  <c:v>31</c:v>
                </c:pt>
                <c:pt idx="4">
                  <c:v>35</c:v>
                </c:pt>
                <c:pt idx="5">
                  <c:v>44</c:v>
                </c:pt>
                <c:pt idx="6">
                  <c:v>44</c:v>
                </c:pt>
                <c:pt idx="7">
                  <c:v>44.7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F3E-4FAF-B281-4118C811E2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Brazil</c:v>
                </c:pt>
              </c:strCache>
            </c:strRef>
          </c:tx>
          <c:spPr>
            <a:ln w="31750" cap="flat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050"/>
              </a:solidFill>
              <a:ln w="9525" cap="flat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 2020</c:v>
                </c:pt>
                <c:pt idx="1">
                  <c:v>Jul 2020</c:v>
                </c:pt>
                <c:pt idx="2">
                  <c:v>Jan 2021</c:v>
                </c:pt>
                <c:pt idx="3">
                  <c:v>Jul 2021</c:v>
                </c:pt>
                <c:pt idx="4">
                  <c:v>Jan 2022</c:v>
                </c:pt>
                <c:pt idx="5">
                  <c:v>Jul 2022</c:v>
                </c:pt>
                <c:pt idx="6">
                  <c:v>Jan 2023</c:v>
                </c:pt>
                <c:pt idx="7">
                  <c:v>Dec 2023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1.8</c:v>
                </c:pt>
                <c:pt idx="2">
                  <c:v>7.7</c:v>
                </c:pt>
                <c:pt idx="3">
                  <c:v>19</c:v>
                </c:pt>
                <c:pt idx="4">
                  <c:v>22</c:v>
                </c:pt>
                <c:pt idx="5">
                  <c:v>33</c:v>
                </c:pt>
                <c:pt idx="6">
                  <c:v>36</c:v>
                </c:pt>
                <c:pt idx="7">
                  <c:v>37.1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DF3E-4FAF-B281-4118C811E2E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France</c:v>
                </c:pt>
              </c:strCache>
            </c:strRef>
          </c:tx>
          <c:spPr>
            <a:ln w="31750" cap="flat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C000"/>
              </a:solidFill>
              <a:ln w="9525" cap="flat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 2020</c:v>
                </c:pt>
                <c:pt idx="1">
                  <c:v>Jul 2020</c:v>
                </c:pt>
                <c:pt idx="2">
                  <c:v>Jan 2021</c:v>
                </c:pt>
                <c:pt idx="3">
                  <c:v>Jul 2021</c:v>
                </c:pt>
                <c:pt idx="4">
                  <c:v>Jan 2022</c:v>
                </c:pt>
                <c:pt idx="5">
                  <c:v>Jul 2022</c:v>
                </c:pt>
                <c:pt idx="6">
                  <c:v>Jan 2023</c:v>
                </c:pt>
                <c:pt idx="7">
                  <c:v>Dec 2023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0.2</c:v>
                </c:pt>
                <c:pt idx="2">
                  <c:v>2.8</c:v>
                </c:pt>
                <c:pt idx="3">
                  <c:v>5.9</c:v>
                </c:pt>
                <c:pt idx="4">
                  <c:v>19</c:v>
                </c:pt>
                <c:pt idx="5">
                  <c:v>32</c:v>
                </c:pt>
                <c:pt idx="6">
                  <c:v>38</c:v>
                </c:pt>
                <c:pt idx="7">
                  <c:v>38.4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DF3E-4FAF-B281-4118C811E2E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Germany</c:v>
                </c:pt>
              </c:strCache>
            </c:strRef>
          </c:tx>
          <c:spPr>
            <a:ln w="31750" cap="flat">
              <a:solidFill>
                <a:srgbClr val="9C27B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C27B0"/>
              </a:solidFill>
              <a:ln w="9525" cap="flat">
                <a:solidFill>
                  <a:srgbClr val="9C27B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 2020</c:v>
                </c:pt>
                <c:pt idx="1">
                  <c:v>Jul 2020</c:v>
                </c:pt>
                <c:pt idx="2">
                  <c:v>Jan 2021</c:v>
                </c:pt>
                <c:pt idx="3">
                  <c:v>Jul 2021</c:v>
                </c:pt>
                <c:pt idx="4">
                  <c:v>Jan 2022</c:v>
                </c:pt>
                <c:pt idx="5">
                  <c:v>Jul 2022</c:v>
                </c:pt>
                <c:pt idx="6">
                  <c:v>Jan 2023</c:v>
                </c:pt>
                <c:pt idx="7">
                  <c:v>Dec 2023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0</c:v>
                </c:pt>
                <c:pt idx="1">
                  <c:v>0.2</c:v>
                </c:pt>
                <c:pt idx="2">
                  <c:v>2.2000000000000002</c:v>
                </c:pt>
                <c:pt idx="3">
                  <c:v>3.8</c:v>
                </c:pt>
                <c:pt idx="4">
                  <c:v>8</c:v>
                </c:pt>
                <c:pt idx="5">
                  <c:v>29</c:v>
                </c:pt>
                <c:pt idx="6">
                  <c:v>37</c:v>
                </c:pt>
                <c:pt idx="7">
                  <c:v>38.4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DF3E-4FAF-B281-4118C811E2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Cases (Millions)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Death Rate (%)</c:v>
                </c:pt>
              </c:strCache>
            </c:strRef>
          </c:tx>
          <c:spPr>
            <a:solidFill>
              <a:srgbClr val="D32F2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28C-4B81-BA41-05D28D9AA95D}"/>
              </c:ext>
            </c:extLst>
          </c:dPt>
          <c:dPt>
            <c:idx val="1"/>
            <c:invertIfNegative val="0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8C-4B81-BA41-05D28D9AA95D}"/>
              </c:ext>
            </c:extLst>
          </c:dPt>
          <c:dPt>
            <c:idx val="2"/>
            <c:invertIfNegative val="0"/>
            <c:bubble3D val="0"/>
            <c:spPr>
              <a:solidFill>
                <a:srgbClr val="EF53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28C-4B81-BA41-05D28D9AA95D}"/>
              </c:ext>
            </c:extLst>
          </c:dPt>
          <c:dPt>
            <c:idx val="3"/>
            <c:invertIfNegative val="0"/>
            <c:bubble3D val="0"/>
            <c:spPr>
              <a:solidFill>
                <a:srgbClr val="FB8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28C-4B81-BA41-05D28D9AA95D}"/>
              </c:ext>
            </c:extLst>
          </c:dPt>
          <c:dPt>
            <c:idx val="4"/>
            <c:invertIfNegative val="0"/>
            <c:bubble3D val="0"/>
            <c:spPr>
              <a:solidFill>
                <a:srgbClr val="FFA7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28C-4B81-BA41-05D28D9AA95D}"/>
              </c:ext>
            </c:extLst>
          </c:dPt>
          <c:dPt>
            <c:idx val="5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28C-4B81-BA41-05D28D9AA95D}"/>
              </c:ext>
            </c:extLst>
          </c:dPt>
          <c:dPt>
            <c:idx val="6"/>
            <c:invertIfNegative val="0"/>
            <c:bubble3D val="0"/>
            <c:spPr>
              <a:solidFill>
                <a:srgbClr val="29B6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28C-4B81-BA41-05D28D9AA95D}"/>
              </c:ext>
            </c:extLst>
          </c:dPt>
          <c:dPt>
            <c:idx val="7"/>
            <c:invertIfNegative val="0"/>
            <c:bubble3D val="0"/>
            <c:spPr>
              <a:solidFill>
                <a:srgbClr val="26C6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28C-4B81-BA41-05D28D9AA95D}"/>
              </c:ext>
            </c:extLst>
          </c:dPt>
          <c:dPt>
            <c:idx val="8"/>
            <c:invertIfNegative val="0"/>
            <c:bubble3D val="0"/>
            <c:spPr>
              <a:solidFill>
                <a:srgbClr val="66BB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28C-4B81-BA41-05D28D9AA95D}"/>
              </c:ext>
            </c:extLst>
          </c:dPt>
          <c:dPt>
            <c:idx val="9"/>
            <c:invertIfNegative val="0"/>
            <c:bubble3D val="0"/>
            <c:spPr>
              <a:solidFill>
                <a:srgbClr val="81C7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B28C-4B81-BA41-05D28D9AA95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South Africa</c:v>
                </c:pt>
                <c:pt idx="1">
                  <c:v>Brazil</c:v>
                </c:pt>
                <c:pt idx="2">
                  <c:v>Russia</c:v>
                </c:pt>
                <c:pt idx="3">
                  <c:v>India</c:v>
                </c:pt>
                <c:pt idx="4">
                  <c:v>UK</c:v>
                </c:pt>
                <c:pt idx="5">
                  <c:v>US</c:v>
                </c:pt>
                <c:pt idx="6">
                  <c:v>Germany</c:v>
                </c:pt>
                <c:pt idx="7">
                  <c:v>France</c:v>
                </c:pt>
                <c:pt idx="8">
                  <c:v>Japan</c:v>
                </c:pt>
                <c:pt idx="9">
                  <c:v>Australia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2.5</c:v>
                </c:pt>
                <c:pt idx="1">
                  <c:v>1.89</c:v>
                </c:pt>
                <c:pt idx="2">
                  <c:v>1.76</c:v>
                </c:pt>
                <c:pt idx="3">
                  <c:v>1.19</c:v>
                </c:pt>
                <c:pt idx="4">
                  <c:v>0.93</c:v>
                </c:pt>
                <c:pt idx="5">
                  <c:v>1.0900000000000001</c:v>
                </c:pt>
                <c:pt idx="6">
                  <c:v>0.45</c:v>
                </c:pt>
                <c:pt idx="7">
                  <c:v>0.43</c:v>
                </c:pt>
                <c:pt idx="8">
                  <c:v>0.22</c:v>
                </c:pt>
                <c:pt idx="9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28C-4B81-BA41-05D28D9AA9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Vaccination Rate (%)</c:v>
                </c:pt>
              </c:strCache>
            </c:strRef>
          </c:tx>
          <c:spPr>
            <a:solidFill>
              <a:srgbClr val="00B05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95A-485A-860D-245E9DDB616C}"/>
              </c:ext>
            </c:extLst>
          </c:dPt>
          <c:dPt>
            <c:idx val="1"/>
            <c:invertIfNegative val="0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95A-485A-860D-245E9DDB616C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95A-485A-860D-245E9DDB616C}"/>
              </c:ext>
            </c:extLst>
          </c:dPt>
          <c:dPt>
            <c:idx val="3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95A-485A-860D-245E9DDB616C}"/>
              </c:ext>
            </c:extLst>
          </c:dPt>
          <c:dPt>
            <c:idx val="4"/>
            <c:invertIfNegative val="0"/>
            <c:bubble3D val="0"/>
            <c:spPr>
              <a:solidFill>
                <a:srgbClr val="82E0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95A-485A-860D-245E9DDB616C}"/>
              </c:ext>
            </c:extLst>
          </c:dPt>
          <c:dPt>
            <c:idx val="5"/>
            <c:invertIfNegative val="0"/>
            <c:bubble3D val="0"/>
            <c:spPr>
              <a:solidFill>
                <a:srgbClr val="AED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95A-485A-860D-245E9DDB616C}"/>
              </c:ext>
            </c:extLst>
          </c:dPt>
          <c:dPt>
            <c:idx val="6"/>
            <c:invertIfNegative val="0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95A-485A-860D-245E9DDB616C}"/>
              </c:ext>
            </c:extLst>
          </c:dPt>
          <c:dPt>
            <c:idx val="7"/>
            <c:invertIfNegative val="0"/>
            <c:bubble3D val="0"/>
            <c:spPr>
              <a:solidFill>
                <a:srgbClr val="1A52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95A-485A-860D-245E9DDB616C}"/>
              </c:ext>
            </c:extLst>
          </c:dPt>
          <c:dPt>
            <c:idx val="8"/>
            <c:invertIfNegative val="0"/>
            <c:bubble3D val="0"/>
            <c:spPr>
              <a:solidFill>
                <a:srgbClr val="F0B2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895A-485A-860D-245E9DDB616C}"/>
              </c:ext>
            </c:extLst>
          </c:dPt>
          <c:dPt>
            <c:idx val="9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895A-485A-860D-245E9DDB616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Japan</c:v>
                </c:pt>
                <c:pt idx="1">
                  <c:v>Australia</c:v>
                </c:pt>
                <c:pt idx="2">
                  <c:v>Germany</c:v>
                </c:pt>
                <c:pt idx="3">
                  <c:v>France</c:v>
                </c:pt>
                <c:pt idx="4">
                  <c:v>UK</c:v>
                </c:pt>
                <c:pt idx="5">
                  <c:v>United States</c:v>
                </c:pt>
                <c:pt idx="6">
                  <c:v>Brazil</c:v>
                </c:pt>
                <c:pt idx="7">
                  <c:v>Russia</c:v>
                </c:pt>
                <c:pt idx="8">
                  <c:v>India</c:v>
                </c:pt>
                <c:pt idx="9">
                  <c:v>South Africa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82</c:v>
                </c:pt>
                <c:pt idx="1">
                  <c:v>73</c:v>
                </c:pt>
                <c:pt idx="2">
                  <c:v>72</c:v>
                </c:pt>
                <c:pt idx="3">
                  <c:v>69</c:v>
                </c:pt>
                <c:pt idx="4">
                  <c:v>67</c:v>
                </c:pt>
                <c:pt idx="5">
                  <c:v>68</c:v>
                </c:pt>
                <c:pt idx="6">
                  <c:v>55</c:v>
                </c:pt>
                <c:pt idx="7">
                  <c:v>50</c:v>
                </c:pt>
                <c:pt idx="8">
                  <c:v>33</c:v>
                </c:pt>
                <c:pt idx="9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95A-485A-860D-245E9DDB61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Recovery Rate (%)</c:v>
                </c:pt>
              </c:strCache>
            </c:strRef>
          </c:tx>
          <c:spPr>
            <a:solidFill>
              <a:srgbClr val="00B05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20D-4814-83D5-64C94E89A8D2}"/>
              </c:ext>
            </c:extLst>
          </c:dPt>
          <c:dPt>
            <c:idx val="1"/>
            <c:invertIfNegative val="0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20D-4814-83D5-64C94E89A8D2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20D-4814-83D5-64C94E89A8D2}"/>
              </c:ext>
            </c:extLst>
          </c:dPt>
          <c:dPt>
            <c:idx val="3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20D-4814-83D5-64C94E89A8D2}"/>
              </c:ext>
            </c:extLst>
          </c:dPt>
          <c:dPt>
            <c:idx val="4"/>
            <c:invertIfNegative val="0"/>
            <c:bubble3D val="0"/>
            <c:spPr>
              <a:solidFill>
                <a:srgbClr val="82E0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20D-4814-83D5-64C94E89A8D2}"/>
              </c:ext>
            </c:extLst>
          </c:dPt>
          <c:dPt>
            <c:idx val="5"/>
            <c:invertIfNegative val="0"/>
            <c:bubble3D val="0"/>
            <c:spPr>
              <a:solidFill>
                <a:srgbClr val="AED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20D-4814-83D5-64C94E89A8D2}"/>
              </c:ext>
            </c:extLst>
          </c:dPt>
          <c:dPt>
            <c:idx val="6"/>
            <c:invertIfNegative val="0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20D-4814-83D5-64C94E89A8D2}"/>
              </c:ext>
            </c:extLst>
          </c:dPt>
          <c:dPt>
            <c:idx val="7"/>
            <c:invertIfNegative val="0"/>
            <c:bubble3D val="0"/>
            <c:spPr>
              <a:solidFill>
                <a:srgbClr val="1A52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20D-4814-83D5-64C94E89A8D2}"/>
              </c:ext>
            </c:extLst>
          </c:dPt>
          <c:dPt>
            <c:idx val="8"/>
            <c:invertIfNegative val="0"/>
            <c:bubble3D val="0"/>
            <c:spPr>
              <a:solidFill>
                <a:srgbClr val="F0B2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20D-4814-83D5-64C94E89A8D2}"/>
              </c:ext>
            </c:extLst>
          </c:dPt>
          <c:dPt>
            <c:idx val="9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920D-4814-83D5-64C94E89A8D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6B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Australia</c:v>
                </c:pt>
                <c:pt idx="1">
                  <c:v>Japan</c:v>
                </c:pt>
                <c:pt idx="2">
                  <c:v>France</c:v>
                </c:pt>
                <c:pt idx="3">
                  <c:v>Germany</c:v>
                </c:pt>
                <c:pt idx="4">
                  <c:v>UK</c:v>
                </c:pt>
                <c:pt idx="5">
                  <c:v>United States</c:v>
                </c:pt>
                <c:pt idx="6">
                  <c:v>India</c:v>
                </c:pt>
                <c:pt idx="7">
                  <c:v>Brazil</c:v>
                </c:pt>
                <c:pt idx="8">
                  <c:v>Russia</c:v>
                </c:pt>
                <c:pt idx="9">
                  <c:v>South Africa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99.81</c:v>
                </c:pt>
                <c:pt idx="1">
                  <c:v>99.78</c:v>
                </c:pt>
                <c:pt idx="2">
                  <c:v>99.57</c:v>
                </c:pt>
                <c:pt idx="3">
                  <c:v>99.55</c:v>
                </c:pt>
                <c:pt idx="4">
                  <c:v>99.07</c:v>
                </c:pt>
                <c:pt idx="5">
                  <c:v>98.91</c:v>
                </c:pt>
                <c:pt idx="6">
                  <c:v>98.81</c:v>
                </c:pt>
                <c:pt idx="7">
                  <c:v>98.11</c:v>
                </c:pt>
                <c:pt idx="8">
                  <c:v>98.24</c:v>
                </c:pt>
                <c:pt idx="9">
                  <c:v>97.5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920D-4814-83D5-64C94E89A8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96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7294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1" name="click.wav"/>
          </p:stSnd>
        </p:sndAc>
      </p:transition>
    </mc:Choice>
    <mc:Fallback>
      <p:transition spd="slow">
        <p:fade/>
        <p:sndAc>
          <p:stSnd>
            <p:snd r:embed="rId1" name="click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click.wav"/>
          </p:stSnd>
        </p:sndAc>
      </p:transition>
    </mc:Choice>
    <mc:Fallback>
      <p:transition spd="slow">
        <p:fade/>
        <p:sndAc>
          <p:stSnd>
            <p:snd r:embed="rId3" name="click.wav"/>
          </p:stSnd>
        </p:sndAc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🦠 COVID-19 GLOBAL DATA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ETL PIPELINE PROJECT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77724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data engineering portfolio project using Python · Pandas · SQLite · Power BI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Kaushal
</a:t>
            </a: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Program: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 Data Science / AI-ML
</a:t>
            </a: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Institute: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Emerging Science &amp; Technology
</a:t>
            </a:r>
            <a:r>
              <a:rPr lang="en-US" sz="13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Our World in Data (OWID)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click.wav"/>
          </p:stSnd>
        </p:sndAc>
      </p:transition>
    </mc:Choice>
    <mc:Fallback>
      <p:transition spd="slow">
        <p:fade/>
        <p:sndAc>
          <p:stSnd>
            <p:snd r:embed="rId3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Agenda &amp; 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850392"/>
            <a:ext cx="91440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503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cover in this presentation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438912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Objectives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15544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project and what we set out to achieve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438912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22860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World in Data — 200K+ records, 180+ countries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438912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2788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Architecture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30175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 design and flow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520440"/>
            <a:ext cx="438912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520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520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Report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37490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found and resolutions applied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251960"/>
            <a:ext cx="438912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2519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&amp; Transform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7240" y="44805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Download, clean, and feature engineer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325880"/>
            <a:ext cx="438912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57800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Phase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257800" y="15544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 and Power BI ready CSVs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057400"/>
            <a:ext cx="438912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57800" y="2057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&amp; Visualizations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257800" y="22860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key analysis dimensions with charts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788920"/>
            <a:ext cx="438912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57800" y="2788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257800" y="30175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4-page interactive dashboard overview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520440"/>
            <a:ext cx="438912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520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257800" y="3520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257800" y="37490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from global COVID-19 data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4251960"/>
            <a:ext cx="438912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57800" y="42519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257800" y="44805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and future scope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click.wav"/>
          </p:stSnd>
        </p:sndAc>
      </p:transition>
    </mc:Choice>
    <mc:Fallback>
      <p:transition spd="slow">
        <p:fade/>
        <p:sndAc>
          <p:stSnd>
            <p:snd r:embed="rId3" name="click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Problem Statement &amp;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850392"/>
            <a:ext cx="91440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503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project matters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raw OWID COVID-19 dataset contains </a:t>
            </a: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columns and 200,000+ rows </a:t>
            </a: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significant null values, non-country aggregates, and reporting gaps — requiring a systematic ETL pipeline before any meaningful analysis can be performed.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42316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" y="2862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ETL Pipeline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3118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implement a Python-based pipeline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242316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5468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154680" y="2862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54680" y="3118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null handling, dedup &amp; validation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42316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035040" y="2862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3118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6 new analytical metrics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74320" y="4096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Multi-format Load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43525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(5 tables) + CSV (4 files)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365760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15468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154680" y="4096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154680" y="43525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4-page interactive BI dashboard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365760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3504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35040" y="4096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35040" y="43525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+ PPT + exam pitch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click.wav"/>
          </p:stSnd>
        </p:sndAc>
      </p:transition>
    </mc:Choice>
    <mc:Fallback>
      <p:transition spd="slow">
        <p:fade/>
        <p:sndAc>
          <p:stSnd>
            <p:snd r:embed="rId3" name="click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Dataset Overview — Our World in Data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850392"/>
            <a:ext cx="91440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503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comprehensive public COVID-19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OWID?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274320" cy="2743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1627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CSV covers all 4 analysis sections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274320" cy="2743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 countries, Jan 2020 – Dec 2023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578608"/>
            <a:ext cx="274320" cy="2743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2578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cases, deaths AND vaccinations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054096"/>
            <a:ext cx="274320" cy="2743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3054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 key required — free direct download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29584"/>
            <a:ext cx="274320" cy="2743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" y="3529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Maintained by University of Oxford researchers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005072"/>
            <a:ext cx="274320" cy="2743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daily with peer-reviewed methodology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1234440"/>
            <a:ext cx="4206240" cy="35661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13258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Dataset at a Glance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754880" y="1783080"/>
            <a:ext cx="182880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81965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200,000+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754880" y="2276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48272" y="1783080"/>
            <a:ext cx="182880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48272" y="181965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48272" y="2276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Columns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697480"/>
            <a:ext cx="182880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73405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754880" y="3191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Columns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48272" y="2697480"/>
            <a:ext cx="182880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48272" y="273405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748272" y="3191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611880"/>
            <a:ext cx="182880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64845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~60MB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754880" y="4105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Size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48272" y="3611880"/>
            <a:ext cx="1828800" cy="8046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48272" y="364845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2020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748272" y="4105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Date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click.wav"/>
          </p:stSnd>
        </p:sndAc>
      </p:transition>
    </mc:Choice>
    <mc:Fallback>
      <p:transition spd="slow">
        <p:fade/>
        <p:sndAc>
          <p:stSnd>
            <p:snd r:embed="rId3" name="click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ETL Architecture — Pipeline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850392"/>
            <a:ext cx="91440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503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Three-stage automated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1188720"/>
            <a:ext cx="2834640" cy="3566160"/>
          </a:xfrm>
          <a:prstGeom prst="rect">
            <a:avLst/>
          </a:prstGeom>
          <a:solidFill>
            <a:srgbClr val="F8FBFF"/>
          </a:solidFill>
          <a:ln w="25400">
            <a:solidFill>
              <a:srgbClr val="1F4E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188720"/>
            <a:ext cx="2834640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⬇️  EXTRACT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201168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74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5216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OWID COVID CSV URL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404872"/>
            <a:ext cx="201168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04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" y="2404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read_csv()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935224"/>
            <a:ext cx="201168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35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" y="2935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raw backup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465576"/>
            <a:ext cx="201168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4655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5216" y="34655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200K+ records loaded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995928"/>
            <a:ext cx="201168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95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5216" y="39959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columns ingested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46120" y="1188720"/>
            <a:ext cx="2834640" cy="3566160"/>
          </a:xfrm>
          <a:prstGeom prst="rect">
            <a:avLst/>
          </a:prstGeom>
          <a:solidFill>
            <a:srgbClr val="F8FBFF"/>
          </a:solidFill>
          <a:ln w="2540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1188720"/>
            <a:ext cx="2834640" cy="56692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11887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TRANSFORM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3383280" y="1874520"/>
            <a:ext cx="201168" cy="20116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1874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48456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14 columns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83280" y="2404872"/>
            <a:ext cx="201168" cy="20116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2404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48456" y="2404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continent rows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383280" y="2935224"/>
            <a:ext cx="201168" cy="20116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2935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48456" y="2935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Forward-fill nulls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383280" y="3465576"/>
            <a:ext cx="201168" cy="20116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34655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48456" y="34655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duplicates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383280" y="3995928"/>
            <a:ext cx="201168" cy="20116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3995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48456" y="39959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6 features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309360" y="1188720"/>
            <a:ext cx="2834640" cy="3566160"/>
          </a:xfrm>
          <a:prstGeom prst="rect">
            <a:avLst/>
          </a:prstGeom>
          <a:solidFill>
            <a:srgbClr val="F8FBFF"/>
          </a:solidFill>
          <a:ln w="254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09360" y="1188720"/>
            <a:ext cx="2834640" cy="56692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11887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 LOAD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6446520" y="1874520"/>
            <a:ext cx="201168" cy="20116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1874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11696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Power BI CSVs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446520" y="2404872"/>
            <a:ext cx="201168" cy="20116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46520" y="2404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711696" y="2404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(5 tables)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46520" y="2935224"/>
            <a:ext cx="201168" cy="20116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6520" y="2935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11696" y="2935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covid_etl.db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446520" y="3465576"/>
            <a:ext cx="201168" cy="20116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46520" y="34655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711696" y="34655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engine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446520" y="3995928"/>
            <a:ext cx="201168" cy="20116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46520" y="3995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711696" y="39959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with SQL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3017520" y="2514600"/>
            <a:ext cx="228600" cy="16459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17520" y="25146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080760" y="2514600"/>
            <a:ext cx="228600" cy="16459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80760" y="251460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2880" y="486460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→ 4 Cleaned CSVs  +  SQLite Database  +  4 Jupyter Charts  +  Power BI Dashboard (4 Pages)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click.wav"/>
          </p:stSnd>
        </p:sndAc>
      </p:transition>
    </mc:Choice>
    <mc:Fallback>
      <p:transition spd="slow">
        <p:fade/>
        <p:sndAc>
          <p:stSnd>
            <p:snd r:embed="rId3" name="click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Data Quality Report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850392"/>
            <a:ext cx="91440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503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identified and resolutions applied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Cleaning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188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Cleaning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4023360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73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32% nulls in total_vaccinations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627632"/>
            <a:ext cx="4023360" cy="384048"/>
          </a:xfrm>
          <a:prstGeom prst="rect">
            <a:avLst/>
          </a:prstGeom>
          <a:solidFill>
            <a:srgbClr val="F0FFF0"/>
          </a:solidFill>
          <a:ln w="12700">
            <a:solidFill>
              <a:srgbClr val="CCFF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73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Forward-fill per country group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5968" y="1673352"/>
            <a:ext cx="512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112264"/>
            <a:ext cx="4023360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579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35% nulls in people_fully_vaccinated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112264"/>
            <a:ext cx="4023360" cy="384048"/>
          </a:xfrm>
          <a:prstGeom prst="rect">
            <a:avLst/>
          </a:prstGeom>
          <a:solidFill>
            <a:srgbClr val="F0FFF0"/>
          </a:solidFill>
          <a:ln w="12700">
            <a:solidFill>
              <a:srgbClr val="CCFF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1579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Forward-fill per country group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15968" y="2157984"/>
            <a:ext cx="512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4023360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426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Non-country rows (continents/world)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596896"/>
            <a:ext cx="4023360" cy="384048"/>
          </a:xfrm>
          <a:prstGeom prst="rect">
            <a:avLst/>
          </a:prstGeom>
          <a:solidFill>
            <a:srgbClr val="F0FFF0"/>
          </a:solidFill>
          <a:ln w="12700">
            <a:solidFill>
              <a:srgbClr val="CCFF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6426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Removed rows where continent = null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15968" y="2642616"/>
            <a:ext cx="512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3081528"/>
            <a:ext cx="4023360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27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29% nulls in HDI column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081528"/>
            <a:ext cx="4023360" cy="384048"/>
          </a:xfrm>
          <a:prstGeom prst="rect">
            <a:avLst/>
          </a:prstGeom>
          <a:solidFill>
            <a:srgbClr val="F0FFF0"/>
          </a:solidFill>
          <a:ln w="12700">
            <a:solidFill>
              <a:srgbClr val="CCFF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127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Filled with 0 (non-critical column)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15968" y="3127248"/>
            <a:ext cx="512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3566160"/>
            <a:ext cx="4023360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611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Duplicate records found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566160"/>
            <a:ext cx="4023360" cy="384048"/>
          </a:xfrm>
          <a:prstGeom prst="rect">
            <a:avLst/>
          </a:prstGeom>
          <a:solidFill>
            <a:srgbClr val="F0FFF0"/>
          </a:solidFill>
          <a:ln w="12700">
            <a:solidFill>
              <a:srgbClr val="CCFF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611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drop_duplicates() applied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15968" y="3611880"/>
            <a:ext cx="512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74320" y="4050792"/>
            <a:ext cx="4023360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96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Zero-division risk in rate calcs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4050792"/>
            <a:ext cx="4023360" cy="384048"/>
          </a:xfrm>
          <a:prstGeom prst="rect">
            <a:avLst/>
          </a:prstGeom>
          <a:solidFill>
            <a:srgbClr val="F0FFF0"/>
          </a:solidFill>
          <a:ln w="12700">
            <a:solidFill>
              <a:srgbClr val="CCFF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4096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replace(0, NaN) before division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15968" y="4096512"/>
            <a:ext cx="512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4663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0 nulls  |  0 duplicates  |  180+ countries retained  |  Data quality score: 100%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click.wav"/>
          </p:stSnd>
        </p:sndAc>
      </p:transition>
    </mc:Choice>
    <mc:Fallback>
      <p:transition spd="slow">
        <p:fade/>
        <p:sndAc>
          <p:stSnd>
            <p:snd r:embed="rId3" name="click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Extract &amp; Transform Phase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850392"/>
            <a:ext cx="91440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503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200K records to clean, feature-rich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600200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Downloaded OWID CSV (~60MB) via pandas read_csv(URL)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2103120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Saved raw backup to data/raw/ immediately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0604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2606040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Explored 67 columns → selected 14 relevant ones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3108960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Removed 12% non-country aggregate rows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3611880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Initial shape: 200,000+ rows × 67 columns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1887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(6 New Columns)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1600200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73168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death_rate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73168" y="18196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(deaths / cases) × 100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103120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73168" y="2130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recovery_rate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73168" y="232257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100 − death_rate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606040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73168" y="2633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vaccination_rate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73168" y="282549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(fully_vax / population) × 100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108960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73168" y="3136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cases_per_million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73168" y="33284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(cases / population) × 1M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611880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73168" y="36393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deaths_per_million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73168" y="38313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(deaths / population) × 1M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4114800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73168" y="4142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new_cases_7day_avg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73168" y="43342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7-day mean per country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click.wav"/>
          </p:stSnd>
        </p:sndAc>
      </p:transition>
    </mc:Choice>
    <mc:Fallback>
      <p:transition spd="slow">
        <p:fade/>
        <p:sndAc>
          <p:stSnd>
            <p:snd r:embed="rId3" name="click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Load Phase — SQLite &amp; Power BI CSVs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850392"/>
            <a:ext cx="91440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503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Dual-format loading for analysis and BI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Power BI-Ready CSV Files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4206240" cy="7132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6733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01_cases_deaths_trend.csv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048" y="19751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~14,600 rows  |  Time-series for Page 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432304"/>
            <a:ext cx="4206240" cy="7132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2478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02_country_comparison.csv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4048" y="27797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rows  |  Latest snapshot for Page 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236976"/>
            <a:ext cx="4206240" cy="7132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32826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03_vaccination_progress.csv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84048" y="35844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~14,600 rows  |  Vaccination for Page 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4041648"/>
            <a:ext cx="4206240" cy="7132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40873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04_recovery_rate.csv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84048" y="43891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~14,600 rows  |  Recovery data for Page 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1887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 — covid_etl.db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1600200"/>
            <a:ext cx="4206240" cy="27432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16642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🗃️  covid_etl.db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2121408"/>
            <a:ext cx="393192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121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covid_full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00600" y="2542032"/>
            <a:ext cx="393192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5420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cases_deaths_trend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00600" y="2962656"/>
            <a:ext cx="393192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9626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country_comparison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00600" y="3383280"/>
            <a:ext cx="393192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383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vaccination_progress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00600" y="3803904"/>
            <a:ext cx="393192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8039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recovery_rate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click.wav"/>
          </p:stSnd>
        </p:sndAc>
      </p:transition>
    </mc:Choice>
    <mc:Fallback>
      <p:transition spd="slow">
        <p:fade/>
        <p:sndAc>
          <p:stSnd>
            <p:snd r:embed="rId3" name="click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Analysis 1 — Cases &amp; Deaths Trend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850392"/>
            <a:ext cx="91440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503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pandemic evolved across top 5 countries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8595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graphicFrame>
        <p:nvGraphicFramePr>
          <p:cNvPr id="8" name="Chart 0"/>
          <p:cNvGraphicFramePr/>
          <p:nvPr/>
        </p:nvGraphicFramePr>
        <p:xfrm>
          <a:off x="365760" y="1234440"/>
          <a:ext cx="84124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US reached 103M cases by end-2023 · Omicron wave (Jan 2022) produced highest daily counts globally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click.wav"/>
          </p:stSnd>
        </p:sndAc>
      </p:transition>
    </mc:Choice>
    <mc:Fallback>
      <p:transition spd="slow">
        <p:fade/>
        <p:sndAc>
          <p:stSnd>
            <p:snd r:embed="rId3" name="click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Analysis 2 — Country-wise Comparison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850392"/>
            <a:ext cx="91440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503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 rate and cases per million across 10 focus countries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5029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graphicFrame>
        <p:nvGraphicFramePr>
          <p:cNvPr id="8" name="Chart 0"/>
          <p:cNvGraphicFramePr/>
          <p:nvPr/>
        </p:nvGraphicFramePr>
        <p:xfrm>
          <a:off x="365760" y="1234440"/>
          <a:ext cx="48463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6"/>
          <p:cNvSpPr/>
          <p:nvPr/>
        </p:nvSpPr>
        <p:spPr>
          <a:xfrm>
            <a:off x="5486400" y="1325880"/>
            <a:ext cx="338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77840" y="13624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Highest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77840" y="1581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Africa — 2.50%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577840" y="18013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system stress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0" y="2167128"/>
            <a:ext cx="338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577840" y="22037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High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577840" y="24231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Brazil, Russia — ~1.8%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577840" y="26426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early interventions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0" y="3008376"/>
            <a:ext cx="338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577840" y="30449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Medium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77840" y="32644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India, US, UK — ~1%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577840" y="34838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healthcare outcomes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0" y="3849624"/>
            <a:ext cx="3383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577840" y="3886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Lowest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577840" y="41056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Japan, Australia — &lt;0.22%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577840" y="43251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healthcare + vaccination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click.wav"/>
          </p:stSnd>
        </p:sndAc>
      </p:transition>
    </mc:Choice>
    <mc:Fallback>
      <p:transition spd="slow">
        <p:fade/>
        <p:sndAc>
          <p:stSnd>
            <p:snd r:embed="rId3" name="click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💉 Analysis 3 — Vaccination Progress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850392"/>
            <a:ext cx="91440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503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vaccinated population % across focus countries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8595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graphicFrame>
        <p:nvGraphicFramePr>
          <p:cNvPr id="8" name="Chart 0"/>
          <p:cNvGraphicFramePr/>
          <p:nvPr/>
        </p:nvGraphicFramePr>
        <p:xfrm>
          <a:off x="365760" y="1234440"/>
          <a:ext cx="8412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Japan led with 82% full vaccination · South Africa and India showed lowest uptake due to supply chain constraints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click.wav"/>
          </p:stSnd>
        </p:sndAc>
      </p:transition>
    </mc:Choice>
    <mc:Fallback>
      <p:transition spd="slow">
        <p:fade/>
        <p:sndAc>
          <p:stSnd>
            <p:snd r:embed="rId3" name="click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💚 Analysis 4 — Recovery Rate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850392"/>
            <a:ext cx="91440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503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 of cases that did not result in death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8595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graphicFrame>
        <p:nvGraphicFramePr>
          <p:cNvPr id="8" name="Chart 0"/>
          <p:cNvGraphicFramePr/>
          <p:nvPr/>
        </p:nvGraphicFramePr>
        <p:xfrm>
          <a:off x="365760" y="1234440"/>
          <a:ext cx="84124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Australia (99.81%) and Japan (99.78%) led recovery rates · South Africa lowest at 97.50%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click.wav"/>
          </p:stSnd>
        </p:sndAc>
      </p:transition>
    </mc:Choice>
    <mc:Fallback>
      <p:transition spd="slow">
        <p:fade/>
        <p:sndAc>
          <p:stSnd>
            <p:snd r:embed="rId3" name="click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Power BI Dashboard — 4 Pages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850392"/>
            <a:ext cx="91440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503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business intelligence 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188720"/>
            <a:ext cx="4206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188720"/>
            <a:ext cx="420624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18872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1: Overview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" y="1719072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 · World map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summary table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206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88720"/>
            <a:ext cx="4206240" cy="4572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18872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2: Cases &amp; Deaths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18888" y="1719072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 trend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 daily cases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28600" y="3017520"/>
            <a:ext cx="4206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017520"/>
            <a:ext cx="4206240" cy="4572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301752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3: Country Comparison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" y="3547872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bar chart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 · Data table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206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17520"/>
            <a:ext cx="420624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3017520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4: Vaccination &amp; Recovery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18888" y="3547872"/>
            <a:ext cx="3986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 bar chart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chart · Line trend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loaded from 4 cleaned CSVs · Relationships on location + date · Country slicer on all pages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click.wav"/>
          </p:stSnd>
        </p:sndAc>
      </p:transition>
    </mc:Choice>
    <mc:Fallback>
      <p:transition spd="slow">
        <p:fade/>
        <p:sndAc>
          <p:stSnd>
            <p:snd r:embed="rId3" name="click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 Global COVID-19 KPIs — Key Numbers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850392"/>
            <a:ext cx="91440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503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metrics from the cleaned dataset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18288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34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GLOBAL CASES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52704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770M+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2560320" y="1234440"/>
            <a:ext cx="18288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234440"/>
            <a:ext cx="18288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234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DEATHS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06040" y="152704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7.0M+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18288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234440"/>
            <a:ext cx="1828800" cy="29260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234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VACCINATIONS GIVEN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09160" y="152704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13.5B+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766560" y="1234440"/>
            <a:ext cx="18288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234440"/>
            <a:ext cx="1828800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234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DEATH RATE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12280" y="152704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1.02%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74320" y="27889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Focus Countries — Summary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00400"/>
          <a:ext cx="8595360" cy="1737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Cases (M)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Death Rate 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Vaccination Rate 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Recovery Rate 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United States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103.4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1.09%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98.91%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India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44.7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1.19%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98.81%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Brazil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37.1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1.89%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98.11%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Japan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33.8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99.78%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Australia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11.3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0.19%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99.81%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click.wav"/>
          </p:stSnd>
        </p:sndAc>
      </p:transition>
    </mc:Choice>
    <mc:Fallback>
      <p:transition spd="slow">
        <p:fade/>
        <p:sndAc>
          <p:stSnd>
            <p:snd r:embed="rId3" name="click.wav"/>
          </p:stSnd>
        </p:sndAc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Key Findings &amp;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1078992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91440" cy="107899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Global Scale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38912" y="138988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770M+ cases · 7M+ deaths · 13.5B+ vaccines administered worldwide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206240" cy="1078992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91440" cy="107899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💉 Vaccination Gap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73752" y="138988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 (82%) vs South Africa (27%) — stark inequality in vaccine access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4206240" cy="1078992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94560"/>
            <a:ext cx="91440" cy="107899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267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Healthcare Impact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8912" y="257860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 + Japan recovery rates &gt;99.78% vs South Africa 97.50%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2194560"/>
            <a:ext cx="4206240" cy="1078992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194560"/>
            <a:ext cx="91440" cy="107899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267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Population Bias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73752" y="257860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 (585K cases/M) vs India (32K/M) — normalization is critical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383280"/>
            <a:ext cx="4206240" cy="1078992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383280"/>
            <a:ext cx="91440" cy="107899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Variant Effect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38912" y="376732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Omicron wave (Jan 2022) highest cases but lower fatality than Delta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3383280"/>
            <a:ext cx="4206240" cy="1078992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383280"/>
            <a:ext cx="91440" cy="107899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 Data Quality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73752" y="376732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Forward-fill critical — naive zero-fill would under-report vaccination rates by ~35%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click.wav"/>
          </p:stSnd>
        </p:sndAc>
      </p:transition>
    </mc:Choice>
    <mc:Fallback>
      <p:transition spd="slow">
        <p:fade/>
        <p:sndAc>
          <p:stSnd>
            <p:snd r:embed="rId3" name="click.wav"/>
          </p:stSnd>
        </p:sndAc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Conclusion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achieved: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Complete Python ETL pipeline processing 200,000+ records end-to-end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Automated data quality management: 0 nulls, 0 duplicates in final output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6 engineered analytical features powering all dashboard metrics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25054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Dual-format loading: SQLite (5 tables) + Power BI-ready CSVs (4 files)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288950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4-page interactive Power BI dashboard with cross-filtering capability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4320" y="3337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7307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Real-time API integration with streaming pipeline (Apache Kafka)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ML forecasting model (LSTM) for case trajectory prediction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43708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Cloud deployment on Azure Data Factory or AWS Glue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|  Questions Welcome  |  Kaushal — PG Data Science / AI-ML  |  March 2026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click.wav"/>
          </p:stSnd>
        </p:sndAc>
      </p:transition>
    </mc:Choice>
    <mc:Fallback>
      <p:transition spd="slow">
        <p:fade/>
        <p:sndAc>
          <p:stSnd>
            <p:snd r:embed="rId3" name="click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1459</Words>
  <Application>Microsoft Office PowerPoint</Application>
  <PresentationFormat>On-screen Show (16:9)</PresentationFormat>
  <Paragraphs>308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Global Data Analysis &amp; ETL Pipeline</dc:title>
  <dc:subject>PptxGenJS Presentation</dc:subject>
  <dc:creator>Kaushal</dc:creator>
  <cp:lastModifiedBy>Kaushal Vaghela</cp:lastModifiedBy>
  <cp:revision>3</cp:revision>
  <dcterms:created xsi:type="dcterms:W3CDTF">2026-03-25T11:37:47Z</dcterms:created>
  <dcterms:modified xsi:type="dcterms:W3CDTF">2026-03-25T12:16:33Z</dcterms:modified>
</cp:coreProperties>
</file>